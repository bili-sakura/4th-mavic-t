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7"/>
    <a:srgbClr val="F4D35E"/>
    <a:srgbClr val="FAF0CA"/>
    <a:srgbClr val="FFFFFF"/>
    <a:srgbClr val="EE9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32" autoAdjust="0"/>
  </p:normalViewPr>
  <p:slideViewPr>
    <p:cSldViewPr>
      <p:cViewPr>
        <p:scale>
          <a:sx n="50" d="100"/>
          <a:sy n="50" d="100"/>
        </p:scale>
        <p:origin x="1906" y="4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F8829-A687-40F6-AB61-53986F4F43F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B00A5-C830-4274-A012-647D3955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Figure 1. Teaser: The proposed EarthBridge framework for multi-modal aerial-view image translation across Electro-Optical (EO), Infrared(IR), and Synthetic Aperture Radar (SAR) modalities. Our method accurately bridges the domain gap, preserving structural integrity while synthesizing high-fidelity target textures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B00A5-C830-4274-A012-647D39551D9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717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B00A5-C830-4274-A012-647D39551D9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290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DBIM Unet Architecture for RGB2IR/SAR2RGB/SAR2IR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B00A5-C830-4274-A012-647D39551D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313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34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3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24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40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6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21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02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058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05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46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205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34609-3014-4DC4-BA0E-9F599181006C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AFCF3-EE8C-4E26-BBF8-3B1596CEE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67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3.xml"/><Relationship Id="rId7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61395" y="316698"/>
            <a:ext cx="5947864" cy="369334"/>
            <a:chOff x="2364059" y="1137422"/>
            <a:chExt cx="9147787" cy="369334"/>
          </a:xfrm>
        </p:grpSpPr>
        <p:sp>
          <p:nvSpPr>
            <p:cNvPr id="22" name="文本框 21"/>
            <p:cNvSpPr txBox="1"/>
            <p:nvPr/>
          </p:nvSpPr>
          <p:spPr>
            <a:xfrm>
              <a:off x="2364059" y="1137424"/>
              <a:ext cx="196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Input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181471" y="1137422"/>
              <a:ext cx="2739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Generated</a:t>
              </a:r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950175" y="1137422"/>
              <a:ext cx="3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Ground Truth</a:t>
              </a:r>
              <a:endParaRPr lang="zh-CN" altLang="en-US" dirty="0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152185" y="2966225"/>
            <a:ext cx="194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a) RGB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IR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8303942" y="2961321"/>
            <a:ext cx="194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b) SAR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EO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2152185" y="6471941"/>
            <a:ext cx="194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c) SAR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IR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8303942" y="6471941"/>
            <a:ext cx="194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d) SAR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RGB</a:t>
            </a:r>
            <a:endParaRPr lang="zh-CN" altLang="en-US" dirty="0"/>
          </a:p>
        </p:txBody>
      </p:sp>
      <p:grpSp>
        <p:nvGrpSpPr>
          <p:cNvPr id="33" name="组合 32"/>
          <p:cNvGrpSpPr/>
          <p:nvPr/>
        </p:nvGrpSpPr>
        <p:grpSpPr>
          <a:xfrm>
            <a:off x="111511" y="985258"/>
            <a:ext cx="5893893" cy="1751851"/>
            <a:chOff x="739763" y="1232093"/>
            <a:chExt cx="4844708" cy="1440000"/>
          </a:xfrm>
        </p:grpSpPr>
        <p:sp>
          <p:nvSpPr>
            <p:cNvPr id="29" name="矩形 28"/>
            <p:cNvSpPr/>
            <p:nvPr/>
          </p:nvSpPr>
          <p:spPr>
            <a:xfrm>
              <a:off x="739763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2442117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4144471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197747" y="985257"/>
            <a:ext cx="5893893" cy="1751851"/>
            <a:chOff x="739763" y="1232093"/>
            <a:chExt cx="4844708" cy="1440000"/>
          </a:xfrm>
        </p:grpSpPr>
        <p:sp>
          <p:nvSpPr>
            <p:cNvPr id="36" name="矩形 35"/>
            <p:cNvSpPr/>
            <p:nvPr/>
          </p:nvSpPr>
          <p:spPr>
            <a:xfrm>
              <a:off x="739763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37" name="矩形 36"/>
            <p:cNvSpPr/>
            <p:nvPr/>
          </p:nvSpPr>
          <p:spPr>
            <a:xfrm>
              <a:off x="2442117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4144471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17558" y="4477252"/>
            <a:ext cx="5893893" cy="1751851"/>
            <a:chOff x="739763" y="1232093"/>
            <a:chExt cx="4844708" cy="1440000"/>
          </a:xfrm>
        </p:grpSpPr>
        <p:sp>
          <p:nvSpPr>
            <p:cNvPr id="40" name="矩形 39"/>
            <p:cNvSpPr/>
            <p:nvPr/>
          </p:nvSpPr>
          <p:spPr>
            <a:xfrm>
              <a:off x="739763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41" name="矩形 40"/>
            <p:cNvSpPr/>
            <p:nvPr/>
          </p:nvSpPr>
          <p:spPr>
            <a:xfrm>
              <a:off x="2442117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44471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08898" y="4477252"/>
            <a:ext cx="5893893" cy="1751851"/>
            <a:chOff x="739763" y="1232093"/>
            <a:chExt cx="4844708" cy="1440000"/>
          </a:xfrm>
        </p:grpSpPr>
        <p:sp>
          <p:nvSpPr>
            <p:cNvPr id="44" name="矩形 43"/>
            <p:cNvSpPr/>
            <p:nvPr/>
          </p:nvSpPr>
          <p:spPr>
            <a:xfrm>
              <a:off x="739763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2442117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44471" y="1232093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Placeholder</a:t>
              </a:r>
              <a:endParaRPr lang="zh-CN" altLang="en-US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61395" y="3771459"/>
            <a:ext cx="5947864" cy="369334"/>
            <a:chOff x="2364059" y="1137422"/>
            <a:chExt cx="9147787" cy="369334"/>
          </a:xfrm>
        </p:grpSpPr>
        <p:sp>
          <p:nvSpPr>
            <p:cNvPr id="48" name="文本框 47"/>
            <p:cNvSpPr txBox="1"/>
            <p:nvPr/>
          </p:nvSpPr>
          <p:spPr>
            <a:xfrm>
              <a:off x="2364059" y="1137424"/>
              <a:ext cx="196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Input</a:t>
              </a:r>
              <a:endParaRPr lang="zh-CN" altLang="en-US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5181471" y="1137422"/>
              <a:ext cx="2739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Generated</a:t>
              </a:r>
              <a:endParaRPr lang="zh-CN" altLang="en-US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950175" y="1137422"/>
              <a:ext cx="3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Ground Truth</a:t>
              </a:r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433178" y="3771457"/>
            <a:ext cx="5947864" cy="369334"/>
            <a:chOff x="2364059" y="1137422"/>
            <a:chExt cx="9147787" cy="369334"/>
          </a:xfrm>
        </p:grpSpPr>
        <p:sp>
          <p:nvSpPr>
            <p:cNvPr id="52" name="文本框 51"/>
            <p:cNvSpPr txBox="1"/>
            <p:nvPr/>
          </p:nvSpPr>
          <p:spPr>
            <a:xfrm>
              <a:off x="2364059" y="1137424"/>
              <a:ext cx="196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Input</a:t>
              </a:r>
              <a:endParaRPr lang="zh-CN" altLang="en-US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181471" y="1137422"/>
              <a:ext cx="2739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Generated</a:t>
              </a:r>
              <a:endParaRPr lang="zh-CN" altLang="en-US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950175" y="1137422"/>
              <a:ext cx="3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Ground Truth</a:t>
              </a:r>
              <a:endParaRPr lang="zh-CN" altLang="en-US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418310" y="316696"/>
            <a:ext cx="5947864" cy="369334"/>
            <a:chOff x="2364059" y="1137422"/>
            <a:chExt cx="9147787" cy="369334"/>
          </a:xfrm>
        </p:grpSpPr>
        <p:sp>
          <p:nvSpPr>
            <p:cNvPr id="56" name="文本框 55"/>
            <p:cNvSpPr txBox="1"/>
            <p:nvPr/>
          </p:nvSpPr>
          <p:spPr>
            <a:xfrm>
              <a:off x="2364059" y="1137424"/>
              <a:ext cx="196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Input</a:t>
              </a:r>
              <a:endParaRPr lang="zh-CN" altLang="en-US" dirty="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181471" y="1137422"/>
              <a:ext cx="2739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Generated</a:t>
              </a:r>
              <a:endParaRPr lang="zh-CN" altLang="en-US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7950175" y="1137422"/>
              <a:ext cx="3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Ground Truth</a:t>
              </a:r>
              <a:endParaRPr lang="zh-CN" altLang="en-US" dirty="0"/>
            </a:p>
          </p:txBody>
        </p:sp>
      </p:grpSp>
      <p:cxnSp>
        <p:nvCxnSpPr>
          <p:cNvPr id="60" name="直接连接符 59"/>
          <p:cNvCxnSpPr/>
          <p:nvPr/>
        </p:nvCxnSpPr>
        <p:spPr>
          <a:xfrm>
            <a:off x="6100661" y="251574"/>
            <a:ext cx="0" cy="6455885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111511" y="3521854"/>
            <a:ext cx="11890717" cy="5163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565" y="950040"/>
            <a:ext cx="1800000" cy="180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451" y="950040"/>
            <a:ext cx="1800000" cy="1800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2" y="963351"/>
            <a:ext cx="1800000" cy="18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919" y="959935"/>
            <a:ext cx="1800000" cy="18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0489" y="942399"/>
            <a:ext cx="1800000" cy="18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747" y="950040"/>
            <a:ext cx="1800000" cy="18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3565" y="4421823"/>
            <a:ext cx="1800000" cy="180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8076" y="4427221"/>
            <a:ext cx="1800000" cy="18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068" y="4429101"/>
            <a:ext cx="1800000" cy="18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6429" y="4429101"/>
            <a:ext cx="1800000" cy="180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6631" y="4427221"/>
            <a:ext cx="1800000" cy="180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1568" y="4429101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32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97568" y="4671562"/>
            <a:ext cx="720000" cy="72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Place-holder</a:t>
            </a:r>
            <a:endParaRPr lang="zh-CN" altLang="en-US" sz="1200" dirty="0"/>
          </a:p>
        </p:txBody>
      </p:sp>
      <p:sp>
        <p:nvSpPr>
          <p:cNvPr id="7" name="矩形 6"/>
          <p:cNvSpPr/>
          <p:nvPr/>
        </p:nvSpPr>
        <p:spPr>
          <a:xfrm>
            <a:off x="155016" y="3200902"/>
            <a:ext cx="720000" cy="72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Place-holder</a:t>
            </a:r>
            <a:endParaRPr lang="zh-CN" altLang="en-US" sz="1200" dirty="0"/>
          </a:p>
        </p:txBody>
      </p:sp>
      <p:sp>
        <p:nvSpPr>
          <p:cNvPr id="8" name="矩形 7"/>
          <p:cNvSpPr/>
          <p:nvPr/>
        </p:nvSpPr>
        <p:spPr>
          <a:xfrm>
            <a:off x="155016" y="1920742"/>
            <a:ext cx="720000" cy="72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Place-holder</a:t>
            </a:r>
            <a:endParaRPr lang="zh-CN" altLang="en-US" sz="1200" dirty="0"/>
          </a:p>
        </p:txBody>
      </p:sp>
      <p:sp>
        <p:nvSpPr>
          <p:cNvPr id="9" name="矩形 8"/>
          <p:cNvSpPr/>
          <p:nvPr/>
        </p:nvSpPr>
        <p:spPr>
          <a:xfrm>
            <a:off x="11422660" y="1920742"/>
            <a:ext cx="720000" cy="72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Place-holder</a:t>
            </a:r>
            <a:endParaRPr lang="zh-CN" altLang="en-US" sz="1200" dirty="0"/>
          </a:p>
        </p:txBody>
      </p:sp>
      <p:pic>
        <p:nvPicPr>
          <p:cNvPr id="12" name="图片 11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80DF902C-DD25-5911-E687-B71CCAA96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B73E07C-F6D7-6551-EAB9-33B487781F1A}"/>
              </a:ext>
            </a:extLst>
          </p:cNvPr>
          <p:cNvSpPr txBox="1"/>
          <p:nvPr/>
        </p:nvSpPr>
        <p:spPr>
          <a:xfrm>
            <a:off x="10673405" y="712706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Target distribution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1885E6-8974-DAA1-946D-0187B103D3F1}"/>
              </a:ext>
            </a:extLst>
          </p:cNvPr>
          <p:cNvSpPr txBox="1"/>
          <p:nvPr/>
        </p:nvSpPr>
        <p:spPr>
          <a:xfrm>
            <a:off x="82928" y="642315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Source distribution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2518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7E196BC9-6FAC-E4C8-C5C6-737E9745025A}"/>
              </a:ext>
            </a:extLst>
          </p:cNvPr>
          <p:cNvGrpSpPr/>
          <p:nvPr/>
        </p:nvGrpSpPr>
        <p:grpSpPr>
          <a:xfrm>
            <a:off x="0" y="-28609"/>
            <a:ext cx="9810707" cy="3430026"/>
            <a:chOff x="86022" y="969099"/>
            <a:chExt cx="9810707" cy="343002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63BF428-7C1A-4575-F351-ABD6FD5C339D}"/>
                </a:ext>
              </a:extLst>
            </p:cNvPr>
            <p:cNvSpPr/>
            <p:nvPr/>
          </p:nvSpPr>
          <p:spPr>
            <a:xfrm rot="10800000">
              <a:off x="212272" y="1192401"/>
              <a:ext cx="391885" cy="1153886"/>
            </a:xfrm>
            <a:prstGeom prst="roundRect">
              <a:avLst/>
            </a:prstGeom>
            <a:solidFill>
              <a:srgbClr val="EE964B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Embed Input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BD0E459-098D-1702-B935-FEA8761AD37F}"/>
                </a:ext>
              </a:extLst>
            </p:cNvPr>
            <p:cNvSpPr/>
            <p:nvPr/>
          </p:nvSpPr>
          <p:spPr>
            <a:xfrm rot="10800000">
              <a:off x="876300" y="1192401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6472F286-F7AD-461B-A168-5FA4A7869D10}"/>
                </a:ext>
              </a:extLst>
            </p:cNvPr>
            <p:cNvCxnSpPr>
              <a:cxnSpLocks/>
              <a:stCxn id="5" idx="1"/>
              <a:endCxn id="6" idx="3"/>
            </p:cNvCxnSpPr>
            <p:nvPr/>
          </p:nvCxnSpPr>
          <p:spPr>
            <a:xfrm>
              <a:off x="604157" y="1769344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AD97E56-1A89-AB8D-DE47-8375C56DB1BF}"/>
                </a:ext>
              </a:extLst>
            </p:cNvPr>
            <p:cNvSpPr/>
            <p:nvPr/>
          </p:nvSpPr>
          <p:spPr>
            <a:xfrm rot="10800000">
              <a:off x="1611992" y="1468834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4F99E2C-1FC1-BC3D-00A7-0149DCFDBD00}"/>
                </a:ext>
              </a:extLst>
            </p:cNvPr>
            <p:cNvSpPr txBox="1"/>
            <p:nvPr/>
          </p:nvSpPr>
          <p:spPr>
            <a:xfrm>
              <a:off x="86022" y="2406612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Down 0</a:t>
              </a:r>
            </a:p>
            <a:p>
              <a:pPr algn="ctr"/>
              <a:r>
                <a:rPr lang="en-US" altLang="zh-CN" sz="1100" dirty="0"/>
                <a:t>(512 × 512)</a:t>
              </a:r>
              <a:endParaRPr lang="zh-CN" altLang="en-US" sz="1100" dirty="0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574D2722-AE72-D0AF-5E87-93AAA074CC00}"/>
                </a:ext>
              </a:extLst>
            </p:cNvPr>
            <p:cNvCxnSpPr>
              <a:cxnSpLocks/>
            </p:cNvCxnSpPr>
            <p:nvPr/>
          </p:nvCxnSpPr>
          <p:spPr>
            <a:xfrm>
              <a:off x="1268185" y="1880677"/>
              <a:ext cx="3438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C6C2A46D-6D51-D8B0-6948-3A37EEFA74FA}"/>
                </a:ext>
              </a:extLst>
            </p:cNvPr>
            <p:cNvSpPr/>
            <p:nvPr/>
          </p:nvSpPr>
          <p:spPr>
            <a:xfrm rot="10800000">
              <a:off x="2276018" y="1468170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D6DB174-7476-DDE1-117F-6D219790E532}"/>
                </a:ext>
              </a:extLst>
            </p:cNvPr>
            <p:cNvCxnSpPr>
              <a:cxnSpLocks/>
              <a:stCxn id="13" idx="1"/>
              <a:endCxn id="23" idx="3"/>
            </p:cNvCxnSpPr>
            <p:nvPr/>
          </p:nvCxnSpPr>
          <p:spPr>
            <a:xfrm flipV="1">
              <a:off x="2003877" y="2045113"/>
              <a:ext cx="272141" cy="6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DB8042C-61CA-8DCC-0A29-477C5A022E11}"/>
                </a:ext>
              </a:extLst>
            </p:cNvPr>
            <p:cNvSpPr txBox="1"/>
            <p:nvPr/>
          </p:nvSpPr>
          <p:spPr>
            <a:xfrm>
              <a:off x="1070425" y="969099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48280DB-18DB-2581-50C2-1D34A4A80413}"/>
                </a:ext>
              </a:extLst>
            </p:cNvPr>
            <p:cNvCxnSpPr>
              <a:cxnSpLocks/>
              <a:stCxn id="29" idx="1"/>
              <a:endCxn id="30" idx="3"/>
            </p:cNvCxnSpPr>
            <p:nvPr/>
          </p:nvCxnSpPr>
          <p:spPr>
            <a:xfrm>
              <a:off x="3331928" y="2271164"/>
              <a:ext cx="27213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E498CBF1-6DD5-278F-927F-38B4294910C4}"/>
                </a:ext>
              </a:extLst>
            </p:cNvPr>
            <p:cNvSpPr/>
            <p:nvPr/>
          </p:nvSpPr>
          <p:spPr>
            <a:xfrm rot="10800000">
              <a:off x="2940043" y="1694221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DA6C8794-2E4F-45C6-6153-80761D0DBD5B}"/>
                </a:ext>
              </a:extLst>
            </p:cNvPr>
            <p:cNvSpPr/>
            <p:nvPr/>
          </p:nvSpPr>
          <p:spPr>
            <a:xfrm rot="10800000">
              <a:off x="3604067" y="1694221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61FF1C4-04D0-DB48-5897-B66D7E05D67C}"/>
                </a:ext>
              </a:extLst>
            </p:cNvPr>
            <p:cNvSpPr txBox="1"/>
            <p:nvPr/>
          </p:nvSpPr>
          <p:spPr>
            <a:xfrm>
              <a:off x="1415970" y="2632663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Down 1</a:t>
              </a:r>
            </a:p>
            <a:p>
              <a:pPr algn="ctr"/>
              <a:r>
                <a:rPr lang="en-US" altLang="zh-CN" sz="1100" dirty="0"/>
                <a:t>(256 × 256)</a:t>
              </a:r>
              <a:endParaRPr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2299801-1977-4B4F-716B-7DBF6374D643}"/>
                </a:ext>
              </a:extLst>
            </p:cNvPr>
            <p:cNvSpPr txBox="1"/>
            <p:nvPr/>
          </p:nvSpPr>
          <p:spPr>
            <a:xfrm>
              <a:off x="2817734" y="2887381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Down 2</a:t>
              </a:r>
            </a:p>
            <a:p>
              <a:pPr algn="ctr"/>
              <a:r>
                <a:rPr lang="en-US" altLang="zh-CN" sz="1100" dirty="0"/>
                <a:t>(128 × 128)</a:t>
              </a:r>
              <a:endParaRPr lang="zh-CN" altLang="en-US" sz="1100" dirty="0"/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207FCF83-E873-79EF-7E5D-3659AD6E8D98}"/>
                </a:ext>
              </a:extLst>
            </p:cNvPr>
            <p:cNvCxnSpPr>
              <a:cxnSpLocks/>
            </p:cNvCxnSpPr>
            <p:nvPr/>
          </p:nvCxnSpPr>
          <p:spPr>
            <a:xfrm>
              <a:off x="2667899" y="2160491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37CCCC6-CAC8-D4D5-9165-CE5766D14608}"/>
                </a:ext>
              </a:extLst>
            </p:cNvPr>
            <p:cNvSpPr txBox="1"/>
            <p:nvPr/>
          </p:nvSpPr>
          <p:spPr>
            <a:xfrm>
              <a:off x="2412084" y="1200105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A94359A-F348-DD7F-66A5-BD2435C73303}"/>
                </a:ext>
              </a:extLst>
            </p:cNvPr>
            <p:cNvSpPr txBox="1"/>
            <p:nvPr/>
          </p:nvSpPr>
          <p:spPr>
            <a:xfrm>
              <a:off x="3763720" y="1438054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ACEC884-B474-A205-7B73-D0C340081828}"/>
                </a:ext>
              </a:extLst>
            </p:cNvPr>
            <p:cNvCxnSpPr>
              <a:cxnSpLocks/>
              <a:stCxn id="39" idx="1"/>
              <a:endCxn id="40" idx="3"/>
            </p:cNvCxnSpPr>
            <p:nvPr/>
          </p:nvCxnSpPr>
          <p:spPr>
            <a:xfrm>
              <a:off x="4659978" y="2591866"/>
              <a:ext cx="27213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9B7ED35-30B6-56DF-CFBA-B7DA55D4428A}"/>
                </a:ext>
              </a:extLst>
            </p:cNvPr>
            <p:cNvSpPr/>
            <p:nvPr/>
          </p:nvSpPr>
          <p:spPr>
            <a:xfrm rot="10800000">
              <a:off x="4268093" y="2014923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B808BBCD-0737-191B-F393-3F4D83B5CA62}"/>
                </a:ext>
              </a:extLst>
            </p:cNvPr>
            <p:cNvSpPr/>
            <p:nvPr/>
          </p:nvSpPr>
          <p:spPr>
            <a:xfrm rot="10800000">
              <a:off x="4932117" y="2014923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EF3F04CB-5BF9-631A-6C40-E1E3BEAE0E8F}"/>
                </a:ext>
              </a:extLst>
            </p:cNvPr>
            <p:cNvCxnSpPr>
              <a:cxnSpLocks/>
              <a:stCxn id="42" idx="1"/>
              <a:endCxn id="43" idx="3"/>
            </p:cNvCxnSpPr>
            <p:nvPr/>
          </p:nvCxnSpPr>
          <p:spPr>
            <a:xfrm>
              <a:off x="5976235" y="2848107"/>
              <a:ext cx="2721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33F1DBD0-B93B-C994-D1CE-D6CB7CE73BB5}"/>
                </a:ext>
              </a:extLst>
            </p:cNvPr>
            <p:cNvSpPr/>
            <p:nvPr/>
          </p:nvSpPr>
          <p:spPr>
            <a:xfrm rot="10800000">
              <a:off x="5584350" y="2271164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DD81077-838F-00E4-FB09-EA112306A912}"/>
                </a:ext>
              </a:extLst>
            </p:cNvPr>
            <p:cNvSpPr/>
            <p:nvPr/>
          </p:nvSpPr>
          <p:spPr>
            <a:xfrm rot="10800000">
              <a:off x="6248373" y="2271164"/>
              <a:ext cx="550159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SelfAttention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0CB4056-5C0C-3307-3639-01CB18CA3F87}"/>
                </a:ext>
              </a:extLst>
            </p:cNvPr>
            <p:cNvSpPr txBox="1"/>
            <p:nvPr/>
          </p:nvSpPr>
          <p:spPr>
            <a:xfrm>
              <a:off x="4232707" y="3194804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Down 3</a:t>
              </a:r>
            </a:p>
            <a:p>
              <a:pPr algn="ctr"/>
              <a:r>
                <a:rPr lang="en-US" altLang="zh-CN" sz="1100" dirty="0"/>
                <a:t>(64 × 64)</a:t>
              </a:r>
              <a:endParaRPr lang="zh-CN" altLang="en-US" sz="11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8170A3B-EE96-DB3A-5C1C-AAA4268027ED}"/>
                </a:ext>
              </a:extLst>
            </p:cNvPr>
            <p:cNvSpPr txBox="1"/>
            <p:nvPr/>
          </p:nvSpPr>
          <p:spPr>
            <a:xfrm>
              <a:off x="5548962" y="3571106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Down 4</a:t>
              </a:r>
            </a:p>
            <a:p>
              <a:pPr algn="ctr"/>
              <a:r>
                <a:rPr lang="en-US" altLang="zh-CN" sz="1100" dirty="0"/>
                <a:t>(32 × 32)</a:t>
              </a:r>
              <a:endParaRPr lang="zh-CN" altLang="en-US" sz="11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EA4F35F-D1BC-A59C-A406-85725145C5DE}"/>
                </a:ext>
              </a:extLst>
            </p:cNvPr>
            <p:cNvSpPr txBox="1"/>
            <p:nvPr/>
          </p:nvSpPr>
          <p:spPr>
            <a:xfrm>
              <a:off x="5062290" y="1769344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773BFD5-5DD3-5ED4-FC0D-20CCF3077348}"/>
                </a:ext>
              </a:extLst>
            </p:cNvPr>
            <p:cNvSpPr txBox="1"/>
            <p:nvPr/>
          </p:nvSpPr>
          <p:spPr>
            <a:xfrm>
              <a:off x="6564024" y="2009553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56720C96-B4EF-970E-4CA1-9D5858E73AA2}"/>
                </a:ext>
              </a:extLst>
            </p:cNvPr>
            <p:cNvCxnSpPr>
              <a:cxnSpLocks/>
            </p:cNvCxnSpPr>
            <p:nvPr/>
          </p:nvCxnSpPr>
          <p:spPr>
            <a:xfrm>
              <a:off x="3995950" y="2422940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EDD2077-4946-934C-8A02-488B2B5E84A0}"/>
                </a:ext>
              </a:extLst>
            </p:cNvPr>
            <p:cNvCxnSpPr>
              <a:cxnSpLocks/>
            </p:cNvCxnSpPr>
            <p:nvPr/>
          </p:nvCxnSpPr>
          <p:spPr>
            <a:xfrm>
              <a:off x="5324002" y="2703937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E55C9414-D4C4-54A1-C0CE-6D01E1218001}"/>
                </a:ext>
              </a:extLst>
            </p:cNvPr>
            <p:cNvCxnSpPr>
              <a:cxnSpLocks/>
              <a:stCxn id="52" idx="1"/>
              <a:endCxn id="53" idx="3"/>
            </p:cNvCxnSpPr>
            <p:nvPr/>
          </p:nvCxnSpPr>
          <p:spPr>
            <a:xfrm>
              <a:off x="7446642" y="3048748"/>
              <a:ext cx="2721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E74B277A-69EC-3E2D-6DB7-54FABA607CF3}"/>
                </a:ext>
              </a:extLst>
            </p:cNvPr>
            <p:cNvSpPr/>
            <p:nvPr/>
          </p:nvSpPr>
          <p:spPr>
            <a:xfrm rot="10800000">
              <a:off x="7054757" y="2471805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9E92D5F7-81C0-D7DF-22B3-7B834845F433}"/>
                </a:ext>
              </a:extLst>
            </p:cNvPr>
            <p:cNvSpPr/>
            <p:nvPr/>
          </p:nvSpPr>
          <p:spPr>
            <a:xfrm rot="10800000">
              <a:off x="7718780" y="2471805"/>
              <a:ext cx="550159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SelfAttention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03868A1-A9A1-EBDE-7517-64CD55CF577E}"/>
                </a:ext>
              </a:extLst>
            </p:cNvPr>
            <p:cNvSpPr txBox="1"/>
            <p:nvPr/>
          </p:nvSpPr>
          <p:spPr>
            <a:xfrm>
              <a:off x="8034431" y="2210194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CEE110B6-8FDA-888E-C505-8274DD0EDEDD}"/>
                </a:ext>
              </a:extLst>
            </p:cNvPr>
            <p:cNvCxnSpPr>
              <a:cxnSpLocks/>
              <a:stCxn id="56" idx="1"/>
              <a:endCxn id="57" idx="3"/>
            </p:cNvCxnSpPr>
            <p:nvPr/>
          </p:nvCxnSpPr>
          <p:spPr>
            <a:xfrm>
              <a:off x="8917054" y="3318268"/>
              <a:ext cx="2721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08EA992A-059A-0CD3-F54E-65BAAF813FF7}"/>
                </a:ext>
              </a:extLst>
            </p:cNvPr>
            <p:cNvSpPr/>
            <p:nvPr/>
          </p:nvSpPr>
          <p:spPr>
            <a:xfrm rot="10800000">
              <a:off x="8525169" y="2741325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A6ADC732-837A-0900-8575-F3FBFA34FF29}"/>
                </a:ext>
              </a:extLst>
            </p:cNvPr>
            <p:cNvSpPr/>
            <p:nvPr/>
          </p:nvSpPr>
          <p:spPr>
            <a:xfrm rot="10800000">
              <a:off x="9189192" y="2741325"/>
              <a:ext cx="550159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SelfAttention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DE8C306-550C-A113-AE86-49A72E433B6B}"/>
                </a:ext>
              </a:extLst>
            </p:cNvPr>
            <p:cNvSpPr txBox="1"/>
            <p:nvPr/>
          </p:nvSpPr>
          <p:spPr>
            <a:xfrm>
              <a:off x="9504843" y="2479714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403CFA62-1D48-5D23-5300-67C07182DE90}"/>
                </a:ext>
              </a:extLst>
            </p:cNvPr>
            <p:cNvSpPr txBox="1"/>
            <p:nvPr/>
          </p:nvSpPr>
          <p:spPr>
            <a:xfrm>
              <a:off x="7031170" y="3679767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Down 5</a:t>
              </a:r>
            </a:p>
            <a:p>
              <a:pPr algn="ctr"/>
              <a:r>
                <a:rPr lang="en-US" altLang="zh-CN" sz="1100" dirty="0"/>
                <a:t>(16 × 16)</a:t>
              </a:r>
              <a:endParaRPr lang="zh-CN" altLang="en-US" sz="11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4F61F37-48AE-E5AE-E2D3-431E298FC901}"/>
                </a:ext>
              </a:extLst>
            </p:cNvPr>
            <p:cNvSpPr txBox="1"/>
            <p:nvPr/>
          </p:nvSpPr>
          <p:spPr>
            <a:xfrm>
              <a:off x="8525169" y="3968238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Down 6</a:t>
              </a:r>
            </a:p>
            <a:p>
              <a:pPr algn="ctr"/>
              <a:r>
                <a:rPr lang="en-US" altLang="zh-CN" sz="1100" dirty="0"/>
                <a:t>(8 × 8)</a:t>
              </a:r>
              <a:endParaRPr lang="zh-CN" altLang="en-US" sz="1100" dirty="0"/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81CFFBE0-E93A-2D2D-9FDD-0EFB99218B82}"/>
                </a:ext>
              </a:extLst>
            </p:cNvPr>
            <p:cNvCxnSpPr>
              <a:cxnSpLocks/>
            </p:cNvCxnSpPr>
            <p:nvPr/>
          </p:nvCxnSpPr>
          <p:spPr>
            <a:xfrm>
              <a:off x="6798532" y="2959848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3FCBB183-AA2C-1904-B892-B5A4F795C53C}"/>
                </a:ext>
              </a:extLst>
            </p:cNvPr>
            <p:cNvCxnSpPr>
              <a:cxnSpLocks/>
            </p:cNvCxnSpPr>
            <p:nvPr/>
          </p:nvCxnSpPr>
          <p:spPr>
            <a:xfrm>
              <a:off x="8268473" y="3173031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C8173D4F-78BD-72C5-CAE3-A648C1D9B747}"/>
              </a:ext>
            </a:extLst>
          </p:cNvPr>
          <p:cNvGrpSpPr/>
          <p:nvPr/>
        </p:nvGrpSpPr>
        <p:grpSpPr>
          <a:xfrm>
            <a:off x="-14012" y="3459448"/>
            <a:ext cx="9832319" cy="3430026"/>
            <a:chOff x="-29401" y="3529930"/>
            <a:chExt cx="9832319" cy="343002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87C4E90B-6856-A81C-BA95-5B6757DC9E47}"/>
                </a:ext>
              </a:extLst>
            </p:cNvPr>
            <p:cNvSpPr/>
            <p:nvPr/>
          </p:nvSpPr>
          <p:spPr>
            <a:xfrm rot="10800000">
              <a:off x="118461" y="5582768"/>
              <a:ext cx="391885" cy="1153886"/>
            </a:xfrm>
            <a:prstGeom prst="roundRect">
              <a:avLst/>
            </a:prstGeom>
            <a:solidFill>
              <a:srgbClr val="EE964B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Embed Input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D997584C-C578-AA31-D9C5-28A5A064582A}"/>
                </a:ext>
              </a:extLst>
            </p:cNvPr>
            <p:cNvSpPr/>
            <p:nvPr/>
          </p:nvSpPr>
          <p:spPr>
            <a:xfrm rot="10800000">
              <a:off x="782489" y="5582768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43DCEDBB-0E6E-5BE3-C94E-04D26189AE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346" y="6159711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E7E21891-7EB6-A2B4-BA41-0DB6B6520BB3}"/>
                </a:ext>
              </a:extLst>
            </p:cNvPr>
            <p:cNvSpPr/>
            <p:nvPr/>
          </p:nvSpPr>
          <p:spPr>
            <a:xfrm rot="10800000">
              <a:off x="1518181" y="5306335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F0DDC0E6-A1D1-3352-AE0B-CDFF5BE5523E}"/>
                </a:ext>
              </a:extLst>
            </p:cNvPr>
            <p:cNvSpPr txBox="1"/>
            <p:nvPr/>
          </p:nvSpPr>
          <p:spPr>
            <a:xfrm>
              <a:off x="-29401" y="5091555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Up 0</a:t>
              </a:r>
            </a:p>
            <a:p>
              <a:pPr algn="ctr"/>
              <a:r>
                <a:rPr lang="en-US" altLang="zh-CN" sz="1100" dirty="0"/>
                <a:t>(512 × 512)</a:t>
              </a:r>
              <a:endParaRPr lang="zh-CN" altLang="en-US" sz="1100" dirty="0"/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E6947C5-1DBD-56D5-19F0-DA23174D50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4374" y="6048378"/>
              <a:ext cx="3438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E6573FD9-2AB4-B07B-962D-D60C27073B53}"/>
                </a:ext>
              </a:extLst>
            </p:cNvPr>
            <p:cNvSpPr/>
            <p:nvPr/>
          </p:nvSpPr>
          <p:spPr>
            <a:xfrm rot="10800000">
              <a:off x="2182207" y="5306999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49A13593-0EEF-C5ED-9F2B-F6128EE71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10066" y="5883278"/>
              <a:ext cx="272141" cy="66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FD30F14E-B448-DD4F-5DF3-46BC84845C50}"/>
                </a:ext>
              </a:extLst>
            </p:cNvPr>
            <p:cNvSpPr txBox="1"/>
            <p:nvPr/>
          </p:nvSpPr>
          <p:spPr>
            <a:xfrm>
              <a:off x="976614" y="6698346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7062341E-6189-F943-973D-24F3F0E6B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8117" y="5657891"/>
              <a:ext cx="27213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6963E99A-55FD-C627-2763-862B18565C04}"/>
                </a:ext>
              </a:extLst>
            </p:cNvPr>
            <p:cNvSpPr/>
            <p:nvPr/>
          </p:nvSpPr>
          <p:spPr>
            <a:xfrm rot="10800000">
              <a:off x="2846232" y="5080948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FDC0F9EC-6092-12F2-AA5C-019AA6CBAEB5}"/>
                </a:ext>
              </a:extLst>
            </p:cNvPr>
            <p:cNvSpPr/>
            <p:nvPr/>
          </p:nvSpPr>
          <p:spPr>
            <a:xfrm rot="10800000">
              <a:off x="3510256" y="5080948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75FDC10-DEBB-862A-643C-66D329AC91FF}"/>
                </a:ext>
              </a:extLst>
            </p:cNvPr>
            <p:cNvSpPr txBox="1"/>
            <p:nvPr/>
          </p:nvSpPr>
          <p:spPr>
            <a:xfrm>
              <a:off x="1299481" y="4865504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Up 1</a:t>
              </a:r>
            </a:p>
            <a:p>
              <a:pPr algn="ctr"/>
              <a:r>
                <a:rPr lang="en-US" altLang="zh-CN" sz="1100" dirty="0"/>
                <a:t>(256 × 256)</a:t>
              </a:r>
              <a:endParaRPr lang="zh-CN" altLang="en-US" sz="1100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82AF0DC4-FF32-CA47-BC08-E6DD8B8A6C82}"/>
                </a:ext>
              </a:extLst>
            </p:cNvPr>
            <p:cNvSpPr txBox="1"/>
            <p:nvPr/>
          </p:nvSpPr>
          <p:spPr>
            <a:xfrm>
              <a:off x="2723924" y="4610787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Up 2</a:t>
              </a:r>
            </a:p>
            <a:p>
              <a:pPr algn="ctr"/>
              <a:r>
                <a:rPr lang="en-US" altLang="zh-CN" sz="1100" dirty="0"/>
                <a:t>(128 × 128)</a:t>
              </a:r>
              <a:endParaRPr lang="zh-CN" altLang="en-US" sz="1100" dirty="0"/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B4F191B6-FEA9-0216-CA3B-455831000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4088" y="5768564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A68F6436-B8DA-F80D-DB26-FB44A15D776C}"/>
                </a:ext>
              </a:extLst>
            </p:cNvPr>
            <p:cNvSpPr txBox="1"/>
            <p:nvPr/>
          </p:nvSpPr>
          <p:spPr>
            <a:xfrm>
              <a:off x="2318273" y="6467340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F70A5B4-521C-FF48-A71E-8D8B6C3F3B98}"/>
                </a:ext>
              </a:extLst>
            </p:cNvPr>
            <p:cNvSpPr txBox="1"/>
            <p:nvPr/>
          </p:nvSpPr>
          <p:spPr>
            <a:xfrm>
              <a:off x="3669909" y="6229391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4E771549-0366-FBAB-C195-5414080B7A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6167" y="5337189"/>
              <a:ext cx="27213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FA5ECD89-8994-29EC-0C26-75AAC29AB3AC}"/>
                </a:ext>
              </a:extLst>
            </p:cNvPr>
            <p:cNvSpPr/>
            <p:nvPr/>
          </p:nvSpPr>
          <p:spPr>
            <a:xfrm rot="10800000">
              <a:off x="4174282" y="4760246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FE5EB63B-6D09-FCEF-BC82-E7B21C6286AE}"/>
                </a:ext>
              </a:extLst>
            </p:cNvPr>
            <p:cNvSpPr/>
            <p:nvPr/>
          </p:nvSpPr>
          <p:spPr>
            <a:xfrm rot="10800000">
              <a:off x="4838306" y="4760246"/>
              <a:ext cx="391885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AE0CF87F-6DAF-665C-26A0-D756CBEEC3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424" y="5080948"/>
              <a:ext cx="2721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93A3D01E-1F3C-5C02-77CB-5FC2F7C2EF4D}"/>
                </a:ext>
              </a:extLst>
            </p:cNvPr>
            <p:cNvSpPr/>
            <p:nvPr/>
          </p:nvSpPr>
          <p:spPr>
            <a:xfrm rot="10800000">
              <a:off x="5490539" y="4504005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201EA8E1-61C9-8EB6-3EF4-857D7DE88175}"/>
                </a:ext>
              </a:extLst>
            </p:cNvPr>
            <p:cNvSpPr/>
            <p:nvPr/>
          </p:nvSpPr>
          <p:spPr>
            <a:xfrm rot="10800000">
              <a:off x="6154562" y="4504005"/>
              <a:ext cx="550159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SelfAttention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22367CED-5022-89EE-2089-8F0295229BE6}"/>
                </a:ext>
              </a:extLst>
            </p:cNvPr>
            <p:cNvSpPr txBox="1"/>
            <p:nvPr/>
          </p:nvSpPr>
          <p:spPr>
            <a:xfrm>
              <a:off x="4138896" y="4303364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Up 3</a:t>
              </a:r>
            </a:p>
            <a:p>
              <a:pPr algn="ctr"/>
              <a:r>
                <a:rPr lang="en-US" altLang="zh-CN" sz="1100" dirty="0"/>
                <a:t>(64 × 64)</a:t>
              </a:r>
              <a:endParaRPr lang="zh-CN" altLang="en-US" sz="11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B758398-3EF9-A5A0-6EBC-3BB39189CD35}"/>
                </a:ext>
              </a:extLst>
            </p:cNvPr>
            <p:cNvSpPr txBox="1"/>
            <p:nvPr/>
          </p:nvSpPr>
          <p:spPr>
            <a:xfrm>
              <a:off x="5455151" y="3927062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Up 4</a:t>
              </a:r>
            </a:p>
            <a:p>
              <a:pPr algn="ctr"/>
              <a:r>
                <a:rPr lang="en-US" altLang="zh-CN" sz="1100" dirty="0"/>
                <a:t>(32 × 32)</a:t>
              </a:r>
              <a:endParaRPr lang="zh-CN" altLang="en-US" sz="11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B32C817-17CF-A007-48A5-66488253F40B}"/>
                </a:ext>
              </a:extLst>
            </p:cNvPr>
            <p:cNvSpPr txBox="1"/>
            <p:nvPr/>
          </p:nvSpPr>
          <p:spPr>
            <a:xfrm>
              <a:off x="4968479" y="5898101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A63C444D-2F42-0522-DB2D-E0788E245096}"/>
                </a:ext>
              </a:extLst>
            </p:cNvPr>
            <p:cNvSpPr txBox="1"/>
            <p:nvPr/>
          </p:nvSpPr>
          <p:spPr>
            <a:xfrm>
              <a:off x="6470213" y="5657892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EB7F8FC6-A5C7-E736-3EE9-79DAFE30EF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2139" y="5506115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3832176A-BF32-145E-66E8-7D04BDD4A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0191" y="5225118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1F3379E8-093D-A6F6-40D4-9BBAB8EEB0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2831" y="4880307"/>
              <a:ext cx="2721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9DF5D192-8FA6-F2B8-8350-2B498CD4F7A2}"/>
                </a:ext>
              </a:extLst>
            </p:cNvPr>
            <p:cNvSpPr/>
            <p:nvPr/>
          </p:nvSpPr>
          <p:spPr>
            <a:xfrm rot="10800000">
              <a:off x="6960946" y="4303364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632C8182-5270-B884-432F-A6E2C7B61C9A}"/>
                </a:ext>
              </a:extLst>
            </p:cNvPr>
            <p:cNvSpPr/>
            <p:nvPr/>
          </p:nvSpPr>
          <p:spPr>
            <a:xfrm rot="10800000">
              <a:off x="7624969" y="4303364"/>
              <a:ext cx="550159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SelfAttention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5AD819A0-F400-D598-CC37-3441FD16270F}"/>
                </a:ext>
              </a:extLst>
            </p:cNvPr>
            <p:cNvSpPr txBox="1"/>
            <p:nvPr/>
          </p:nvSpPr>
          <p:spPr>
            <a:xfrm>
              <a:off x="7940620" y="5457251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A301BF13-A1CE-C35B-E883-39D2306A06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3243" y="4610787"/>
              <a:ext cx="2721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006101E7-B419-F972-7EDF-4515C8660C4A}"/>
                </a:ext>
              </a:extLst>
            </p:cNvPr>
            <p:cNvSpPr/>
            <p:nvPr/>
          </p:nvSpPr>
          <p:spPr>
            <a:xfrm rot="10800000">
              <a:off x="8431358" y="4033844"/>
              <a:ext cx="391885" cy="1153886"/>
            </a:xfrm>
            <a:prstGeom prst="roundRect">
              <a:avLst/>
            </a:prstGeom>
            <a:solidFill>
              <a:srgbClr val="F4D35E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Average Pool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6DCAE2E6-7362-3E71-6141-53BD5B4C1B7E}"/>
                </a:ext>
              </a:extLst>
            </p:cNvPr>
            <p:cNvSpPr/>
            <p:nvPr/>
          </p:nvSpPr>
          <p:spPr>
            <a:xfrm rot="10800000">
              <a:off x="9095381" y="4033844"/>
              <a:ext cx="550159" cy="1153886"/>
            </a:xfrm>
            <a:prstGeom prst="roundRect">
              <a:avLst/>
            </a:prstGeom>
            <a:solidFill>
              <a:srgbClr val="FAF0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ResBlock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SelfAttention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7398FECF-9934-A97A-3436-76B4F856CC0B}"/>
                </a:ext>
              </a:extLst>
            </p:cNvPr>
            <p:cNvSpPr txBox="1"/>
            <p:nvPr/>
          </p:nvSpPr>
          <p:spPr>
            <a:xfrm>
              <a:off x="9411032" y="5187731"/>
              <a:ext cx="391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/>
                <a:t>×2</a:t>
              </a:r>
              <a:endParaRPr lang="zh-CN" altLang="en-US" sz="1100" b="1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07B901B4-F745-9D43-B6C8-A0446F60459E}"/>
                </a:ext>
              </a:extLst>
            </p:cNvPr>
            <p:cNvSpPr txBox="1"/>
            <p:nvPr/>
          </p:nvSpPr>
          <p:spPr>
            <a:xfrm>
              <a:off x="6937359" y="3818401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Up 5</a:t>
              </a:r>
            </a:p>
            <a:p>
              <a:pPr algn="ctr"/>
              <a:r>
                <a:rPr lang="en-US" altLang="zh-CN" sz="1100" dirty="0"/>
                <a:t>(16 × 16)</a:t>
              </a:r>
              <a:endParaRPr lang="zh-CN" altLang="en-US" sz="11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E96EC09-D3E4-8735-A390-1BD7B7C050F5}"/>
                </a:ext>
              </a:extLst>
            </p:cNvPr>
            <p:cNvSpPr txBox="1"/>
            <p:nvPr/>
          </p:nvSpPr>
          <p:spPr>
            <a:xfrm>
              <a:off x="8431358" y="3529930"/>
              <a:ext cx="10795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/>
                <a:t>Up 6</a:t>
              </a:r>
            </a:p>
            <a:p>
              <a:pPr algn="ctr"/>
              <a:r>
                <a:rPr lang="en-US" altLang="zh-CN" sz="1100" dirty="0"/>
                <a:t>(8 × 8)</a:t>
              </a:r>
              <a:endParaRPr lang="zh-CN" altLang="en-US" sz="1100" dirty="0"/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37BF312F-9632-228D-A7EF-585AC6DF87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4721" y="4969207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F725CEB9-8EC4-B11A-0721-D8F3FAD8A6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4662" y="4756024"/>
              <a:ext cx="2721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F2A38887-0E37-A80A-5367-B20D671E4300}"/>
              </a:ext>
            </a:extLst>
          </p:cNvPr>
          <p:cNvSpPr/>
          <p:nvPr/>
        </p:nvSpPr>
        <p:spPr>
          <a:xfrm rot="10800000">
            <a:off x="10056440" y="2816498"/>
            <a:ext cx="841289" cy="12250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</a:rPr>
              <a:t>ResBlock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</a:rPr>
              <a:t>SelfAttention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</a:rPr>
              <a:t>ResBlock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9A7F582-E2FE-21F0-ABFB-96C15F76E697}"/>
              </a:ext>
            </a:extLst>
          </p:cNvPr>
          <p:cNvSpPr txBox="1"/>
          <p:nvPr/>
        </p:nvSpPr>
        <p:spPr>
          <a:xfrm>
            <a:off x="10897729" y="3213555"/>
            <a:ext cx="1079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Mid </a:t>
            </a:r>
          </a:p>
          <a:p>
            <a:pPr algn="ctr"/>
            <a:r>
              <a:rPr lang="en-US" altLang="zh-CN" sz="1100" dirty="0"/>
              <a:t>(8 × 8)</a:t>
            </a:r>
            <a:endParaRPr lang="zh-CN" altLang="en-US" sz="1100" dirty="0"/>
          </a:p>
        </p:txBody>
      </p: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F0A8D578-CB5C-5B2D-3503-86E1725E0CD5}"/>
              </a:ext>
            </a:extLst>
          </p:cNvPr>
          <p:cNvCxnSpPr>
            <a:stCxn id="57" idx="1"/>
            <a:endCxn id="107" idx="2"/>
          </p:cNvCxnSpPr>
          <p:nvPr/>
        </p:nvCxnSpPr>
        <p:spPr>
          <a:xfrm>
            <a:off x="9653329" y="2320560"/>
            <a:ext cx="823755" cy="4959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CB605822-00E1-E922-75C4-AB59A31E9DC5}"/>
              </a:ext>
            </a:extLst>
          </p:cNvPr>
          <p:cNvCxnSpPr>
            <a:cxnSpLocks/>
            <a:stCxn id="107" idx="0"/>
            <a:endCxn id="100" idx="1"/>
          </p:cNvCxnSpPr>
          <p:nvPr/>
        </p:nvCxnSpPr>
        <p:spPr>
          <a:xfrm rot="5400000">
            <a:off x="9819606" y="3882826"/>
            <a:ext cx="498803" cy="8161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823B72D4-7E3D-6986-A1E7-C81DBE796849}"/>
              </a:ext>
            </a:extLst>
          </p:cNvPr>
          <p:cNvCxnSpPr>
            <a:cxnSpLocks/>
            <a:stCxn id="57" idx="0"/>
            <a:endCxn id="100" idx="2"/>
          </p:cNvCxnSpPr>
          <p:nvPr/>
        </p:nvCxnSpPr>
        <p:spPr>
          <a:xfrm>
            <a:off x="9378249" y="2897503"/>
            <a:ext cx="7600" cy="1065859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21E11A29-5635-2229-7B8D-986A08E1C018}"/>
              </a:ext>
            </a:extLst>
          </p:cNvPr>
          <p:cNvCxnSpPr>
            <a:cxnSpLocks/>
            <a:stCxn id="53" idx="0"/>
            <a:endCxn id="96" idx="2"/>
          </p:cNvCxnSpPr>
          <p:nvPr/>
        </p:nvCxnSpPr>
        <p:spPr>
          <a:xfrm>
            <a:off x="7907837" y="2627983"/>
            <a:ext cx="7600" cy="1604899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8DB6DABC-E9EF-9FDE-94DE-D2E941E350C8}"/>
              </a:ext>
            </a:extLst>
          </p:cNvPr>
          <p:cNvCxnSpPr>
            <a:cxnSpLocks/>
            <a:endCxn id="87" idx="2"/>
          </p:cNvCxnSpPr>
          <p:nvPr/>
        </p:nvCxnSpPr>
        <p:spPr>
          <a:xfrm>
            <a:off x="6445025" y="2420888"/>
            <a:ext cx="5" cy="201263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B2AF3B6F-DDF7-FD68-D646-0EF80957254C}"/>
              </a:ext>
            </a:extLst>
          </p:cNvPr>
          <p:cNvCxnSpPr>
            <a:cxnSpLocks/>
            <a:stCxn id="40" idx="0"/>
            <a:endCxn id="84" idx="2"/>
          </p:cNvCxnSpPr>
          <p:nvPr/>
        </p:nvCxnSpPr>
        <p:spPr>
          <a:xfrm>
            <a:off x="5042037" y="2171101"/>
            <a:ext cx="7600" cy="2518663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7FC750CF-8CAE-A93C-B364-80880993DEA8}"/>
              </a:ext>
            </a:extLst>
          </p:cNvPr>
          <p:cNvCxnSpPr>
            <a:cxnSpLocks/>
            <a:stCxn id="30" idx="0"/>
            <a:endCxn id="76" idx="2"/>
          </p:cNvCxnSpPr>
          <p:nvPr/>
        </p:nvCxnSpPr>
        <p:spPr>
          <a:xfrm>
            <a:off x="3713987" y="1850399"/>
            <a:ext cx="7600" cy="3160067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C4EA4D2-1070-02E5-0185-62E6C8FD4D71}"/>
              </a:ext>
            </a:extLst>
          </p:cNvPr>
          <p:cNvCxnSpPr>
            <a:cxnSpLocks/>
            <a:stCxn id="23" idx="0"/>
            <a:endCxn id="71" idx="2"/>
          </p:cNvCxnSpPr>
          <p:nvPr/>
        </p:nvCxnSpPr>
        <p:spPr>
          <a:xfrm>
            <a:off x="2385938" y="1624348"/>
            <a:ext cx="7600" cy="3612169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ADC18930-21C0-34B1-B692-A17B9A0508E8}"/>
              </a:ext>
            </a:extLst>
          </p:cNvPr>
          <p:cNvCxnSpPr>
            <a:cxnSpLocks/>
            <a:stCxn id="6" idx="0"/>
            <a:endCxn id="66" idx="2"/>
          </p:cNvCxnSpPr>
          <p:nvPr/>
        </p:nvCxnSpPr>
        <p:spPr>
          <a:xfrm>
            <a:off x="986220" y="1348579"/>
            <a:ext cx="7600" cy="4163707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05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5E4C71D-5212-E4C9-EA65-E87C171CC80C}"/>
              </a:ext>
            </a:extLst>
          </p:cNvPr>
          <p:cNvSpPr/>
          <p:nvPr/>
        </p:nvSpPr>
        <p:spPr>
          <a:xfrm>
            <a:off x="4711418" y="362566"/>
            <a:ext cx="3235600" cy="2494554"/>
          </a:xfrm>
          <a:prstGeom prst="roundRect">
            <a:avLst/>
          </a:prstGeom>
          <a:solidFill>
            <a:srgbClr val="FFF9E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E34320-C687-5595-2048-2C4EF705D84F}"/>
              </a:ext>
            </a:extLst>
          </p:cNvPr>
          <p:cNvSpPr/>
          <p:nvPr/>
        </p:nvSpPr>
        <p:spPr>
          <a:xfrm>
            <a:off x="2604289" y="822940"/>
            <a:ext cx="1751851" cy="175185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Placeholder</a:t>
            </a:r>
            <a:endParaRPr lang="zh-CN" altLang="en-US" dirty="0"/>
          </a:p>
        </p:txBody>
      </p:sp>
      <p:pic>
        <p:nvPicPr>
          <p:cNvPr id="63" name="图片 62" descr="\documentclass{article}&#10;\usepackage{amsmath}&#10;\pagestyle{empty}&#10;\begin{document}&#10;&#10;\[ z_{0}=y \]&#10;&#10;\end{document}" title="IguanaTex Bitmap Display">
            <a:extLst>
              <a:ext uri="{FF2B5EF4-FFF2-40B4-BE49-F238E27FC236}">
                <a16:creationId xmlns:a16="http://schemas.microsoft.com/office/drawing/2014/main" id="{13A8B153-0359-B34D-D2B6-69AE406F83F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337" y="2775595"/>
            <a:ext cx="682666" cy="163048"/>
          </a:xfrm>
          <a:prstGeom prst="rect">
            <a:avLst/>
          </a:prstGeom>
        </p:spPr>
      </p:pic>
      <p:sp>
        <p:nvSpPr>
          <p:cNvPr id="10" name="梯形 9">
            <a:extLst>
              <a:ext uri="{FF2B5EF4-FFF2-40B4-BE49-F238E27FC236}">
                <a16:creationId xmlns:a16="http://schemas.microsoft.com/office/drawing/2014/main" id="{10ADC86A-8F12-48F6-C43F-B0713F2A4615}"/>
              </a:ext>
            </a:extLst>
          </p:cNvPr>
          <p:cNvSpPr/>
          <p:nvPr/>
        </p:nvSpPr>
        <p:spPr>
          <a:xfrm rot="5400000">
            <a:off x="4778025" y="1166665"/>
            <a:ext cx="1751853" cy="1091951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梯形 10">
            <a:extLst>
              <a:ext uri="{FF2B5EF4-FFF2-40B4-BE49-F238E27FC236}">
                <a16:creationId xmlns:a16="http://schemas.microsoft.com/office/drawing/2014/main" id="{AB512DF4-F871-0978-84E8-68E3773782B7}"/>
              </a:ext>
            </a:extLst>
          </p:cNvPr>
          <p:cNvSpPr/>
          <p:nvPr/>
        </p:nvSpPr>
        <p:spPr>
          <a:xfrm rot="16200000">
            <a:off x="6097828" y="1166664"/>
            <a:ext cx="1751853" cy="1091951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D9E7E4-E1CE-1F80-24B0-958A1AC4F3F2}"/>
              </a:ext>
            </a:extLst>
          </p:cNvPr>
          <p:cNvSpPr txBox="1"/>
          <p:nvPr/>
        </p:nvSpPr>
        <p:spPr>
          <a:xfrm>
            <a:off x="5767877" y="2426232"/>
            <a:ext cx="10919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U-Net Denoiser</a:t>
            </a:r>
            <a:endParaRPr lang="zh-CN" altLang="en-US" sz="11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1A5728-A1C7-2A1D-7857-23C499734E1C}"/>
              </a:ext>
            </a:extLst>
          </p:cNvPr>
          <p:cNvSpPr/>
          <p:nvPr/>
        </p:nvSpPr>
        <p:spPr>
          <a:xfrm>
            <a:off x="335360" y="836712"/>
            <a:ext cx="1751851" cy="175185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Placeholder</a:t>
            </a:r>
            <a:endParaRPr lang="zh-CN" altLang="en-US" dirty="0"/>
          </a:p>
        </p:txBody>
      </p:sp>
      <p:pic>
        <p:nvPicPr>
          <p:cNvPr id="72" name="图片 71" descr="\documentclass{article}&#10;\usepackage{amsmath}&#10;\pagestyle{empty}&#10;\begin{document}&#10;&#10;\[ z_{T}= x+\epsilon_{boot}\]&#10;&#10;\end{document}" title="IguanaTex Bitmap Display">
            <a:extLst>
              <a:ext uri="{FF2B5EF4-FFF2-40B4-BE49-F238E27FC236}">
                <a16:creationId xmlns:a16="http://schemas.microsoft.com/office/drawing/2014/main" id="{ECB0E66A-3431-0C18-269E-2D708DD56B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119" y="2708825"/>
            <a:ext cx="1516189" cy="187429"/>
          </a:xfrm>
          <a:prstGeom prst="rect">
            <a:avLst/>
          </a:prstGeom>
        </p:spPr>
      </p:pic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B88E80A-0DEA-3B97-EC00-486AF848CAA8}"/>
              </a:ext>
            </a:extLst>
          </p:cNvPr>
          <p:cNvCxnSpPr>
            <a:cxnSpLocks/>
          </p:cNvCxnSpPr>
          <p:nvPr/>
        </p:nvCxnSpPr>
        <p:spPr>
          <a:xfrm>
            <a:off x="2207032" y="1725992"/>
            <a:ext cx="27213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图片 30" descr="\documentclass{article}&#10;\usepackage{amsmath}&#10;\pagestyle{empty}&#10;\begin{document}&#10;&#10;&#10;\[ D_{\theta}(z_{t},t,x) \]&#10;&#10;\end{document}" title="IguanaTex Bitmap Display">
            <a:extLst>
              <a:ext uri="{FF2B5EF4-FFF2-40B4-BE49-F238E27FC236}">
                <a16:creationId xmlns:a16="http://schemas.microsoft.com/office/drawing/2014/main" id="{9E84F408-9252-0E23-2656-6C4610DC971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764" y="695702"/>
            <a:ext cx="1153523" cy="254476"/>
          </a:xfrm>
          <a:prstGeom prst="rect">
            <a:avLst/>
          </a:prstGeom>
        </p:spPr>
      </p:pic>
      <p:sp>
        <p:nvSpPr>
          <p:cNvPr id="33" name="箭头: 环形 32">
            <a:extLst>
              <a:ext uri="{FF2B5EF4-FFF2-40B4-BE49-F238E27FC236}">
                <a16:creationId xmlns:a16="http://schemas.microsoft.com/office/drawing/2014/main" id="{DCF0BA00-B9ED-D691-F19E-E470F84A1DCB}"/>
              </a:ext>
            </a:extLst>
          </p:cNvPr>
          <p:cNvSpPr/>
          <p:nvPr/>
        </p:nvSpPr>
        <p:spPr>
          <a:xfrm flipH="1">
            <a:off x="7451175" y="576459"/>
            <a:ext cx="260253" cy="26025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4670234"/>
              <a:gd name="adj5" fmla="val 12500"/>
            </a:avLst>
          </a:prstGeom>
          <a:solidFill>
            <a:srgbClr val="EE964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0DC7D5A-07AB-5C8F-1688-1B23AC06A313}"/>
              </a:ext>
            </a:extLst>
          </p:cNvPr>
          <p:cNvSpPr txBox="1"/>
          <p:nvPr/>
        </p:nvSpPr>
        <p:spPr>
          <a:xfrm>
            <a:off x="7195282" y="345227"/>
            <a:ext cx="7153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×</a:t>
            </a:r>
            <a:r>
              <a:rPr lang="en-US" altLang="zh-CN" sz="1100" b="1" i="1" dirty="0"/>
              <a:t>T</a:t>
            </a:r>
            <a:endParaRPr lang="zh-CN" altLang="en-US" sz="1100" b="1" i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63513E4-9EDF-06D7-7DDF-4AF4D5980C82}"/>
              </a:ext>
            </a:extLst>
          </p:cNvPr>
          <p:cNvSpPr/>
          <p:nvPr/>
        </p:nvSpPr>
        <p:spPr>
          <a:xfrm>
            <a:off x="8222745" y="822939"/>
            <a:ext cx="1751851" cy="175185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Target</a:t>
            </a:r>
            <a:endParaRPr lang="zh-CN" altLang="en-US" dirty="0"/>
          </a:p>
        </p:txBody>
      </p:sp>
      <p:pic>
        <p:nvPicPr>
          <p:cNvPr id="70" name="图片 69" descr="\documentclass{article}&#10;\usepackage{amsmath}&#10;\pagestyle{empty}&#10;\begin{document}&#10;&#10;&#10;\[ x \]&#10;&#10;\end{document}" title="IguanaTex Bitmap Display">
            <a:extLst>
              <a:ext uri="{FF2B5EF4-FFF2-40B4-BE49-F238E27FC236}">
                <a16:creationId xmlns:a16="http://schemas.microsoft.com/office/drawing/2014/main" id="{1F51960F-D5D4-3ED3-8BC9-BF687BC80AB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85" y="2791355"/>
            <a:ext cx="128000" cy="114286"/>
          </a:xfrm>
          <a:prstGeom prst="rect">
            <a:avLst/>
          </a:prstGeom>
        </p:spPr>
      </p:pic>
      <p:pic>
        <p:nvPicPr>
          <p:cNvPr id="73" name="图片 72" descr="文本&#10;&#10;AI 生成的内容可能不正确。">
            <a:extLst>
              <a:ext uri="{FF2B5EF4-FFF2-40B4-BE49-F238E27FC236}">
                <a16:creationId xmlns:a16="http://schemas.microsoft.com/office/drawing/2014/main" id="{FA47DDA9-E3C0-5DE3-1B68-27FC3CB268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360093"/>
            <a:ext cx="12192000" cy="283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87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2000C60-6337-7733-B642-7DE875261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235"/>
            <a:ext cx="12192000" cy="648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705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35.958"/>
  <p:tag name="LATEXADDIN" val="\documentclass{article}&#10;\usepackage{amsmath}&#10;\pagestyle{empty}&#10;\begin{document}&#10;&#10;\[ z_{0}=y \]&#10;&#10;\end{document}"/>
  <p:tag name="IGUANATEXSIZE" val="2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746.1567"/>
  <p:tag name="LATEXADDIN" val="\documentclass{article}&#10;\usepackage{amsmath}&#10;\pagestyle{empty}&#10;\begin{document}&#10;&#10;\[ z_{T}= x+\epsilon_{boot}\]&#10;&#10;\end{document}"/>
  <p:tag name="IGUANATEXSIZE" val="20"/>
  <p:tag name="IGUANATEXCURSOR" val="10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67.6791"/>
  <p:tag name="LATEXADDIN" val="\documentclass{article}&#10;\usepackage{amsmath}&#10;\pagestyle{empty}&#10;\begin{document}&#10;&#10;&#10;\[ D_{\theta}(z_{t},t,x) \]&#10;&#10;\end{document}"/>
  <p:tag name="IGUANATEXSIZE" val="20"/>
  <p:tag name="IGUANATEXCURSOR" val="10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LATEXADDIN" val="\documentclass{article}&#10;\usepackage{amsmath}&#10;\pagestyle{empty}&#10;\begin{document}&#10;&#10;&#10;\[ x \]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E964B"/>
        </a:solidFill>
        <a:ln w="19050">
          <a:solidFill>
            <a:schemeClr val="tx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300</Words>
  <Application>Microsoft Office PowerPoint</Application>
  <PresentationFormat>宽屏</PresentationFormat>
  <Paragraphs>125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Windows User</cp:lastModifiedBy>
  <cp:revision>68</cp:revision>
  <dcterms:created xsi:type="dcterms:W3CDTF">2026-02-22T07:56:49Z</dcterms:created>
  <dcterms:modified xsi:type="dcterms:W3CDTF">2026-03-05T01:51:52Z</dcterms:modified>
</cp:coreProperties>
</file>