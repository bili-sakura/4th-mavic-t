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050" autoAdjust="0"/>
  </p:normalViewPr>
  <p:slideViewPr>
    <p:cSldViewPr snapToGrid="0">
      <p:cViewPr varScale="1">
        <p:scale>
          <a:sx n="67" d="100"/>
          <a:sy n="67" d="100"/>
        </p:scale>
        <p:origin x="1267" y="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3F8829-A687-40F6-AB61-53986F4F43F6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8B00A5-C830-4274-A012-647D39551D9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02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Figure 1. Teaser: The proposed EarthBridge framework for multi-modal aerial-view image translation across Electro-Optical (EO), Infrared(IR), and Synthetic Aperture Radar (SAR) modalities. Our method accurately bridges the domain gap, preserving structural integrity while synthesizing high-fidelity target textures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8B00A5-C830-4274-A012-647D39551D9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57176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Figure 2. Overview of our EarthBridge translation pipeline based on DBIM. The source image x is concatenated with the noisy sample </a:t>
            </a:r>
            <a:r>
              <a:rPr lang="en-US" altLang="zh-CN" dirty="0" err="1" smtClean="0"/>
              <a:t>ztand</a:t>
            </a:r>
            <a:r>
              <a:rPr lang="en-US" altLang="zh-CN" dirty="0" smtClean="0"/>
              <a:t> fed to a UNet </a:t>
            </a:r>
            <a:r>
              <a:rPr lang="en-US" altLang="zh-CN" dirty="0" err="1" smtClean="0"/>
              <a:t>denoiser</a:t>
            </a:r>
            <a:r>
              <a:rPr lang="en-US" altLang="zh-CN" dirty="0" smtClean="0"/>
              <a:t>. During training, the bridge forward process constructs </a:t>
            </a:r>
            <a:r>
              <a:rPr lang="en-US" altLang="zh-CN" dirty="0" err="1" smtClean="0"/>
              <a:t>zt</a:t>
            </a:r>
            <a:r>
              <a:rPr lang="en-US" altLang="zh-CN" dirty="0" smtClean="0"/>
              <a:t> from the target y and source x via bridge </a:t>
            </a:r>
            <a:r>
              <a:rPr lang="en-US" altLang="zh-CN" dirty="0" err="1" smtClean="0"/>
              <a:t>scalings.During</a:t>
            </a:r>
            <a:r>
              <a:rPr lang="en-US" altLang="zh-CN" dirty="0" smtClean="0"/>
              <a:t> inference, deterministic DBIM sampling transforms x into the translated output ˆz0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8B00A5-C830-4274-A012-647D39551D90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32900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8B00A5-C830-4274-A012-647D39551D90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13136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9345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638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8242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34027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761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22100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6024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6058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0052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44613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34609-3014-4DC4-BA0E-9F599181006C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4205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C34609-3014-4DC4-BA0E-9F599181006C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0AFCF3-EE8C-4E26-BBF8-3B1596CEE82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1675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361395" y="316698"/>
            <a:ext cx="5947864" cy="369334"/>
            <a:chOff x="2364059" y="1137422"/>
            <a:chExt cx="9147787" cy="369334"/>
          </a:xfrm>
        </p:grpSpPr>
        <p:sp>
          <p:nvSpPr>
            <p:cNvPr id="22" name="文本框 21"/>
            <p:cNvSpPr txBox="1"/>
            <p:nvPr/>
          </p:nvSpPr>
          <p:spPr>
            <a:xfrm>
              <a:off x="2364059" y="1137424"/>
              <a:ext cx="19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 smtClean="0"/>
                <a:t>Input</a:t>
              </a:r>
              <a:endParaRPr lang="zh-CN" altLang="en-US" dirty="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5181471" y="1137422"/>
              <a:ext cx="27397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 smtClean="0"/>
                <a:t>Generated</a:t>
              </a:r>
              <a:endParaRPr lang="zh-CN" altLang="en-US" dirty="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950175" y="1137422"/>
              <a:ext cx="35616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 smtClean="0"/>
                <a:t>Ground Truth</a:t>
              </a:r>
              <a:endParaRPr lang="zh-CN" altLang="en-US" dirty="0"/>
            </a:p>
          </p:txBody>
        </p:sp>
      </p:grpSp>
      <p:sp>
        <p:nvSpPr>
          <p:cNvPr id="25" name="文本框 24"/>
          <p:cNvSpPr txBox="1"/>
          <p:nvPr/>
        </p:nvSpPr>
        <p:spPr>
          <a:xfrm>
            <a:off x="2152185" y="2966225"/>
            <a:ext cx="194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smtClean="0"/>
              <a:t>a) RGB </a:t>
            </a:r>
            <a:r>
              <a:rPr lang="en-US" altLang="zh-CN" dirty="0" smtClean="0">
                <a:sym typeface="Wingdings" panose="05000000000000000000" pitchFamily="2" charset="2"/>
              </a:rPr>
              <a:t></a:t>
            </a:r>
            <a:r>
              <a:rPr lang="en-US" altLang="zh-CN" dirty="0" smtClean="0"/>
              <a:t> IR</a:t>
            </a:r>
            <a:endParaRPr lang="zh-CN" altLang="en-US" dirty="0"/>
          </a:p>
        </p:txBody>
      </p:sp>
      <p:sp>
        <p:nvSpPr>
          <p:cNvPr id="26" name="文本框 25"/>
          <p:cNvSpPr txBox="1"/>
          <p:nvPr/>
        </p:nvSpPr>
        <p:spPr>
          <a:xfrm>
            <a:off x="8303942" y="2961321"/>
            <a:ext cx="194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b</a:t>
            </a:r>
            <a:r>
              <a:rPr lang="en-US" altLang="zh-CN" dirty="0" smtClean="0"/>
              <a:t>) SAR </a:t>
            </a:r>
            <a:r>
              <a:rPr lang="en-US" altLang="zh-CN" dirty="0" smtClean="0">
                <a:sym typeface="Wingdings" panose="05000000000000000000" pitchFamily="2" charset="2"/>
              </a:rPr>
              <a:t></a:t>
            </a:r>
            <a:r>
              <a:rPr lang="en-US" altLang="zh-CN" dirty="0" smtClean="0"/>
              <a:t> EO</a:t>
            </a:r>
            <a:endParaRPr lang="zh-CN" altLang="en-US" dirty="0"/>
          </a:p>
        </p:txBody>
      </p:sp>
      <p:sp>
        <p:nvSpPr>
          <p:cNvPr id="27" name="文本框 26"/>
          <p:cNvSpPr txBox="1"/>
          <p:nvPr/>
        </p:nvSpPr>
        <p:spPr>
          <a:xfrm>
            <a:off x="2152185" y="6471941"/>
            <a:ext cx="194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smtClean="0"/>
              <a:t>c) SAR </a:t>
            </a:r>
            <a:r>
              <a:rPr lang="en-US" altLang="zh-CN" dirty="0" smtClean="0">
                <a:sym typeface="Wingdings" panose="05000000000000000000" pitchFamily="2" charset="2"/>
              </a:rPr>
              <a:t></a:t>
            </a:r>
            <a:r>
              <a:rPr lang="en-US" altLang="zh-CN" dirty="0" smtClean="0"/>
              <a:t> IR</a:t>
            </a:r>
            <a:endParaRPr lang="zh-CN" altLang="en-US" dirty="0"/>
          </a:p>
        </p:txBody>
      </p:sp>
      <p:sp>
        <p:nvSpPr>
          <p:cNvPr id="28" name="文本框 27"/>
          <p:cNvSpPr txBox="1"/>
          <p:nvPr/>
        </p:nvSpPr>
        <p:spPr>
          <a:xfrm>
            <a:off x="8303942" y="6471941"/>
            <a:ext cx="194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smtClean="0"/>
              <a:t>d) SAR </a:t>
            </a:r>
            <a:r>
              <a:rPr lang="en-US" altLang="zh-CN" dirty="0" smtClean="0">
                <a:sym typeface="Wingdings" panose="05000000000000000000" pitchFamily="2" charset="2"/>
              </a:rPr>
              <a:t></a:t>
            </a:r>
            <a:r>
              <a:rPr lang="en-US" altLang="zh-CN" dirty="0" smtClean="0"/>
              <a:t> RGB</a:t>
            </a:r>
            <a:endParaRPr lang="zh-CN" altLang="en-US" dirty="0"/>
          </a:p>
        </p:txBody>
      </p:sp>
      <p:grpSp>
        <p:nvGrpSpPr>
          <p:cNvPr id="33" name="组合 32"/>
          <p:cNvGrpSpPr/>
          <p:nvPr/>
        </p:nvGrpSpPr>
        <p:grpSpPr>
          <a:xfrm>
            <a:off x="111511" y="985258"/>
            <a:ext cx="5893893" cy="1751851"/>
            <a:chOff x="739763" y="1232093"/>
            <a:chExt cx="4844708" cy="1440000"/>
          </a:xfrm>
        </p:grpSpPr>
        <p:sp>
          <p:nvSpPr>
            <p:cNvPr id="29" name="矩形 28"/>
            <p:cNvSpPr/>
            <p:nvPr/>
          </p:nvSpPr>
          <p:spPr>
            <a:xfrm>
              <a:off x="739763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/>
                <a:t>Placeholder</a:t>
              </a:r>
              <a:endParaRPr lang="zh-CN" altLang="en-US" dirty="0"/>
            </a:p>
          </p:txBody>
        </p:sp>
        <p:sp>
          <p:nvSpPr>
            <p:cNvPr id="31" name="矩形 30"/>
            <p:cNvSpPr/>
            <p:nvPr/>
          </p:nvSpPr>
          <p:spPr>
            <a:xfrm>
              <a:off x="2442117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/>
                <a:t>Placeholder</a:t>
              </a:r>
              <a:endParaRPr lang="zh-CN" altLang="en-US" dirty="0"/>
            </a:p>
          </p:txBody>
        </p:sp>
        <p:sp>
          <p:nvSpPr>
            <p:cNvPr id="32" name="矩形 31"/>
            <p:cNvSpPr/>
            <p:nvPr/>
          </p:nvSpPr>
          <p:spPr>
            <a:xfrm>
              <a:off x="4144471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/>
                <a:t>Placeholder</a:t>
              </a:r>
              <a:endParaRPr lang="zh-CN" altLang="en-US" dirty="0"/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6197747" y="985257"/>
            <a:ext cx="5893893" cy="1751851"/>
            <a:chOff x="739763" y="1232093"/>
            <a:chExt cx="4844708" cy="1440000"/>
          </a:xfrm>
        </p:grpSpPr>
        <p:sp>
          <p:nvSpPr>
            <p:cNvPr id="36" name="矩形 35"/>
            <p:cNvSpPr/>
            <p:nvPr/>
          </p:nvSpPr>
          <p:spPr>
            <a:xfrm>
              <a:off x="739763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/>
                <a:t>Placeholder</a:t>
              </a:r>
              <a:endParaRPr lang="zh-CN" altLang="en-US" dirty="0"/>
            </a:p>
          </p:txBody>
        </p:sp>
        <p:sp>
          <p:nvSpPr>
            <p:cNvPr id="37" name="矩形 36"/>
            <p:cNvSpPr/>
            <p:nvPr/>
          </p:nvSpPr>
          <p:spPr>
            <a:xfrm>
              <a:off x="2442117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/>
                <a:t>Placeholder</a:t>
              </a:r>
              <a:endParaRPr lang="zh-CN" altLang="en-US" dirty="0"/>
            </a:p>
          </p:txBody>
        </p:sp>
        <p:sp>
          <p:nvSpPr>
            <p:cNvPr id="38" name="矩形 37"/>
            <p:cNvSpPr/>
            <p:nvPr/>
          </p:nvSpPr>
          <p:spPr>
            <a:xfrm>
              <a:off x="4144471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/>
                <a:t>Placeholder</a:t>
              </a:r>
              <a:endParaRPr lang="zh-CN" altLang="en-US" dirty="0"/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117558" y="4477252"/>
            <a:ext cx="5893893" cy="1751851"/>
            <a:chOff x="739763" y="1232093"/>
            <a:chExt cx="4844708" cy="1440000"/>
          </a:xfrm>
        </p:grpSpPr>
        <p:sp>
          <p:nvSpPr>
            <p:cNvPr id="40" name="矩形 39"/>
            <p:cNvSpPr/>
            <p:nvPr/>
          </p:nvSpPr>
          <p:spPr>
            <a:xfrm>
              <a:off x="739763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/>
                <a:t>Placeholder</a:t>
              </a:r>
              <a:endParaRPr lang="zh-CN" altLang="en-US" dirty="0"/>
            </a:p>
          </p:txBody>
        </p:sp>
        <p:sp>
          <p:nvSpPr>
            <p:cNvPr id="41" name="矩形 40"/>
            <p:cNvSpPr/>
            <p:nvPr/>
          </p:nvSpPr>
          <p:spPr>
            <a:xfrm>
              <a:off x="2442117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/>
                <a:t>Placeholder</a:t>
              </a:r>
              <a:endParaRPr lang="zh-CN" altLang="en-US" dirty="0"/>
            </a:p>
          </p:txBody>
        </p:sp>
        <p:sp>
          <p:nvSpPr>
            <p:cNvPr id="42" name="矩形 41"/>
            <p:cNvSpPr/>
            <p:nvPr/>
          </p:nvSpPr>
          <p:spPr>
            <a:xfrm>
              <a:off x="4144471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/>
                <a:t>Placeholder</a:t>
              </a:r>
              <a:endParaRPr lang="zh-CN" altLang="en-US" dirty="0"/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208898" y="4477252"/>
            <a:ext cx="5893893" cy="1751851"/>
            <a:chOff x="739763" y="1232093"/>
            <a:chExt cx="4844708" cy="1440000"/>
          </a:xfrm>
        </p:grpSpPr>
        <p:sp>
          <p:nvSpPr>
            <p:cNvPr id="44" name="矩形 43"/>
            <p:cNvSpPr/>
            <p:nvPr/>
          </p:nvSpPr>
          <p:spPr>
            <a:xfrm>
              <a:off x="739763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/>
                <a:t>Placeholder</a:t>
              </a:r>
              <a:endParaRPr lang="zh-CN" altLang="en-US" dirty="0"/>
            </a:p>
          </p:txBody>
        </p:sp>
        <p:sp>
          <p:nvSpPr>
            <p:cNvPr id="45" name="矩形 44"/>
            <p:cNvSpPr/>
            <p:nvPr/>
          </p:nvSpPr>
          <p:spPr>
            <a:xfrm>
              <a:off x="2442117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/>
                <a:t>Placeholder</a:t>
              </a:r>
              <a:endParaRPr lang="zh-CN" altLang="en-US" dirty="0"/>
            </a:p>
          </p:txBody>
        </p:sp>
        <p:sp>
          <p:nvSpPr>
            <p:cNvPr id="46" name="矩形 45"/>
            <p:cNvSpPr/>
            <p:nvPr/>
          </p:nvSpPr>
          <p:spPr>
            <a:xfrm>
              <a:off x="4144471" y="1232093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lumMod val="67000"/>
                  </a:schemeClr>
                </a:gs>
                <a:gs pos="48000">
                  <a:schemeClr val="accent3">
                    <a:lumMod val="97000"/>
                    <a:lumOff val="3000"/>
                  </a:schemeClr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/>
                <a:t>Placeholder</a:t>
              </a:r>
              <a:endParaRPr lang="zh-CN" altLang="en-US" dirty="0"/>
            </a:p>
          </p:txBody>
        </p:sp>
      </p:grpSp>
      <p:grpSp>
        <p:nvGrpSpPr>
          <p:cNvPr id="47" name="组合 46"/>
          <p:cNvGrpSpPr/>
          <p:nvPr/>
        </p:nvGrpSpPr>
        <p:grpSpPr>
          <a:xfrm>
            <a:off x="361395" y="3771459"/>
            <a:ext cx="5947864" cy="369334"/>
            <a:chOff x="2364059" y="1137422"/>
            <a:chExt cx="9147787" cy="369334"/>
          </a:xfrm>
        </p:grpSpPr>
        <p:sp>
          <p:nvSpPr>
            <p:cNvPr id="48" name="文本框 47"/>
            <p:cNvSpPr txBox="1"/>
            <p:nvPr/>
          </p:nvSpPr>
          <p:spPr>
            <a:xfrm>
              <a:off x="2364059" y="1137424"/>
              <a:ext cx="19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 smtClean="0"/>
                <a:t>Input</a:t>
              </a:r>
              <a:endParaRPr lang="zh-CN" altLang="en-US" dirty="0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5181471" y="1137422"/>
              <a:ext cx="27397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 smtClean="0"/>
                <a:t>Generated</a:t>
              </a:r>
              <a:endParaRPr lang="zh-CN" altLang="en-US" dirty="0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7950175" y="1137422"/>
              <a:ext cx="35616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 smtClean="0"/>
                <a:t>Ground Truth</a:t>
              </a:r>
              <a:endParaRPr lang="zh-CN" altLang="en-US" dirty="0"/>
            </a:p>
          </p:txBody>
        </p:sp>
      </p:grpSp>
      <p:grpSp>
        <p:nvGrpSpPr>
          <p:cNvPr id="51" name="组合 50"/>
          <p:cNvGrpSpPr/>
          <p:nvPr/>
        </p:nvGrpSpPr>
        <p:grpSpPr>
          <a:xfrm>
            <a:off x="6433178" y="3771457"/>
            <a:ext cx="5947864" cy="369334"/>
            <a:chOff x="2364059" y="1137422"/>
            <a:chExt cx="9147787" cy="369334"/>
          </a:xfrm>
        </p:grpSpPr>
        <p:sp>
          <p:nvSpPr>
            <p:cNvPr id="52" name="文本框 51"/>
            <p:cNvSpPr txBox="1"/>
            <p:nvPr/>
          </p:nvSpPr>
          <p:spPr>
            <a:xfrm>
              <a:off x="2364059" y="1137424"/>
              <a:ext cx="19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 smtClean="0"/>
                <a:t>Input</a:t>
              </a:r>
              <a:endParaRPr lang="zh-CN" altLang="en-US" dirty="0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5181471" y="1137422"/>
              <a:ext cx="27397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 smtClean="0"/>
                <a:t>Generated</a:t>
              </a:r>
              <a:endParaRPr lang="zh-CN" altLang="en-US" dirty="0"/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7950175" y="1137422"/>
              <a:ext cx="35616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 smtClean="0"/>
                <a:t>Ground Truth</a:t>
              </a:r>
              <a:endParaRPr lang="zh-CN" altLang="en-US" dirty="0"/>
            </a:p>
          </p:txBody>
        </p:sp>
      </p:grpSp>
      <p:grpSp>
        <p:nvGrpSpPr>
          <p:cNvPr id="55" name="组合 54"/>
          <p:cNvGrpSpPr/>
          <p:nvPr/>
        </p:nvGrpSpPr>
        <p:grpSpPr>
          <a:xfrm>
            <a:off x="6418310" y="316696"/>
            <a:ext cx="5947864" cy="369334"/>
            <a:chOff x="2364059" y="1137422"/>
            <a:chExt cx="9147787" cy="369334"/>
          </a:xfrm>
        </p:grpSpPr>
        <p:sp>
          <p:nvSpPr>
            <p:cNvPr id="56" name="文本框 55"/>
            <p:cNvSpPr txBox="1"/>
            <p:nvPr/>
          </p:nvSpPr>
          <p:spPr>
            <a:xfrm>
              <a:off x="2364059" y="1137424"/>
              <a:ext cx="19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 smtClean="0"/>
                <a:t>Input</a:t>
              </a:r>
              <a:endParaRPr lang="zh-CN" altLang="en-US" dirty="0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5181471" y="1137422"/>
              <a:ext cx="27397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 smtClean="0"/>
                <a:t>Generated</a:t>
              </a:r>
              <a:endParaRPr lang="zh-CN" altLang="en-US" dirty="0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7950175" y="1137422"/>
              <a:ext cx="35616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 smtClean="0"/>
                <a:t>Ground Truth</a:t>
              </a:r>
              <a:endParaRPr lang="zh-CN" altLang="en-US" dirty="0"/>
            </a:p>
          </p:txBody>
        </p:sp>
      </p:grpSp>
      <p:cxnSp>
        <p:nvCxnSpPr>
          <p:cNvPr id="60" name="直接连接符 59"/>
          <p:cNvCxnSpPr/>
          <p:nvPr/>
        </p:nvCxnSpPr>
        <p:spPr>
          <a:xfrm>
            <a:off x="6100661" y="251574"/>
            <a:ext cx="0" cy="6455885"/>
          </a:xfrm>
          <a:prstGeom prst="line">
            <a:avLst/>
          </a:prstGeom>
          <a:ln w="9525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5" name="直接连接符 64"/>
          <p:cNvCxnSpPr/>
          <p:nvPr/>
        </p:nvCxnSpPr>
        <p:spPr>
          <a:xfrm flipV="1">
            <a:off x="111511" y="3521854"/>
            <a:ext cx="11890717" cy="51637"/>
          </a:xfrm>
          <a:prstGeom prst="line">
            <a:avLst/>
          </a:prstGeom>
          <a:ln w="9525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4032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215" y="8054"/>
            <a:ext cx="10274920" cy="6849946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197568" y="4671562"/>
            <a:ext cx="720000" cy="72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Place-holder</a:t>
            </a:r>
            <a:endParaRPr lang="zh-CN" altLang="en-US" sz="1200" dirty="0"/>
          </a:p>
        </p:txBody>
      </p:sp>
      <p:sp>
        <p:nvSpPr>
          <p:cNvPr id="7" name="矩形 6"/>
          <p:cNvSpPr/>
          <p:nvPr/>
        </p:nvSpPr>
        <p:spPr>
          <a:xfrm>
            <a:off x="155016" y="3200902"/>
            <a:ext cx="720000" cy="72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Place-holder</a:t>
            </a:r>
            <a:endParaRPr lang="zh-CN" altLang="en-US" sz="1200" dirty="0"/>
          </a:p>
        </p:txBody>
      </p:sp>
      <p:sp>
        <p:nvSpPr>
          <p:cNvPr id="8" name="矩形 7"/>
          <p:cNvSpPr/>
          <p:nvPr/>
        </p:nvSpPr>
        <p:spPr>
          <a:xfrm>
            <a:off x="155016" y="1920742"/>
            <a:ext cx="720000" cy="72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Place-holder</a:t>
            </a:r>
            <a:endParaRPr lang="zh-CN" altLang="en-US" sz="1200" dirty="0"/>
          </a:p>
        </p:txBody>
      </p:sp>
      <p:sp>
        <p:nvSpPr>
          <p:cNvPr id="9" name="矩形 8"/>
          <p:cNvSpPr/>
          <p:nvPr/>
        </p:nvSpPr>
        <p:spPr>
          <a:xfrm>
            <a:off x="11422660" y="1920742"/>
            <a:ext cx="720000" cy="7200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Place-holder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902518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60526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微软雅黑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163</Words>
  <Application>Microsoft Office PowerPoint</Application>
  <PresentationFormat>宽屏</PresentationFormat>
  <Paragraphs>37</Paragraphs>
  <Slides>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微软雅黑</vt:lpstr>
      <vt:lpstr>Arial</vt:lpstr>
      <vt:lpstr>Wingdings</vt:lpstr>
      <vt:lpstr>Office 主题​​</vt:lpstr>
      <vt:lpstr>PowerPoint 演示文稿</vt:lpstr>
      <vt:lpstr>PowerPoint 演示文稿</vt:lpstr>
      <vt:lpstr>PowerPoint 演示文稿</vt:lpstr>
    </vt:vector>
  </TitlesOfParts>
  <Company>P R 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Windows User</dc:creator>
  <cp:lastModifiedBy>Windows User</cp:lastModifiedBy>
  <cp:revision>21</cp:revision>
  <dcterms:created xsi:type="dcterms:W3CDTF">2026-02-22T07:56:49Z</dcterms:created>
  <dcterms:modified xsi:type="dcterms:W3CDTF">2026-02-22T08:59:52Z</dcterms:modified>
</cp:coreProperties>
</file>